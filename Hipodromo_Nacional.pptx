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C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0F6FC"/>
                </a:solidFill>
              </a:rPr>
              <a:t>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0F6FC"/>
                </a:solidFill>
              </a:rPr>
              <a:t>HIPÓDROMO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58A6FF"/>
                </a:solidFill>
              </a:rPr>
              <a:t>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Sistema Web de Control de Carrera de Caballos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897380" cy="27432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8A6FF"/>
                </a:solidFill>
              </a:rPr>
              <a:t>Spring Boot 3.5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0300" y="3840480"/>
            <a:ext cx="1897380" cy="27432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8A6FF"/>
                </a:solidFill>
              </a:rPr>
              <a:t>Spring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840480"/>
            <a:ext cx="1266444" cy="27432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FB950"/>
                </a:solidFill>
              </a:rPr>
              <a:t>Thymeleaf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55564" y="3840480"/>
            <a:ext cx="1897380" cy="27432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FB950"/>
                </a:solidFill>
              </a:rPr>
              <a:t>Spring Data JPA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98664" y="3840480"/>
            <a:ext cx="1371600" cy="27432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A657"/>
                </a:solidFill>
              </a:rP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3840480"/>
            <a:ext cx="1161288" cy="27432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A657"/>
                </a:solidFill>
              </a:rPr>
              <a:t>Supabase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22992" y="3840480"/>
            <a:ext cx="1056132" cy="27432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D700"/>
                </a:solidFill>
              </a:rPr>
              <a:t>Railway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24844" y="3840480"/>
            <a:ext cx="1581912" cy="274320"/>
          </a:xfrm>
          <a:prstGeom prst="roundRect">
            <a:avLst/>
          </a:prstGeom>
          <a:solidFill>
            <a:srgbClr val="161B27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78166"/>
                </a:solidFill>
              </a:rPr>
              <a:t>Git / GitHub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8229600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IF-5100 Administración de Bases de Datos  ·  Universidad de Costa Rica  ·  Sede Liberia  ·  2025–2026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Cómo fluye una petición desde el navegador hasta PostgreSQL en Supabase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74552" cy="658368"/>
          </a:xfrm>
          <a:prstGeom prst="rect">
            <a:avLst/>
          </a:prstGeom>
          <a:solidFill>
            <a:srgbClr val="161B27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🌐  Navegador (Usuario)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36192"/>
            <a:ext cx="7708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Abre https://hipodromo.railway.app · HTML generado en el servidor · Sin JavaScript pesado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482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84832"/>
            <a:ext cx="11274552" cy="658368"/>
          </a:xfrm>
          <a:prstGeom prst="rect">
            <a:avLst/>
          </a:prstGeom>
          <a:solidFill>
            <a:srgbClr val="161B27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494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</a:rPr>
              <a:t>🔒  Spring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249424"/>
            <a:ext cx="7708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Intercepta cada petición · Verifica sesión · Redirige a /login · Aplica reglas de rol por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7614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98064"/>
            <a:ext cx="11274552" cy="658368"/>
          </a:xfrm>
          <a:prstGeom prst="rect">
            <a:avLst/>
          </a:prstGeom>
          <a:solidFill>
            <a:srgbClr val="161B27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626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657"/>
                </a:solidFill>
              </a:rPr>
              <a:t>⚙️  Controllers (MVC)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962656"/>
            <a:ext cx="7708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Recibe la petición HTTP · Llama al Repository · Agrega datos al Model · Devuelve template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4747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11296"/>
            <a:ext cx="11274552" cy="658368"/>
          </a:xfrm>
          <a:prstGeom prst="rect">
            <a:avLst/>
          </a:prstGeom>
          <a:solidFill>
            <a:srgbClr val="161B27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758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📦  Spring Data JPA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675888"/>
            <a:ext cx="7708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Repositorios con @Query(nativeQuery=true) · Invoca stored procedures: CALL sp_insertar_caballo(...)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187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24528"/>
            <a:ext cx="11274552" cy="658368"/>
          </a:xfrm>
          <a:prstGeom prst="rect">
            <a:avLst/>
          </a:prstGeom>
          <a:solidFill>
            <a:srgbClr val="161B27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8166"/>
                </a:solidFill>
              </a:rPr>
              <a:t>🗃️  PostgreSQL (Supabase)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389120"/>
            <a:ext cx="7708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14 tablas · Stored procedures · Triggers de auditoría · Bitácoras particionadas por trimestre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Spring Boot — El Motor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Framework Java que convierte código en una aplicación web lista para producción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29200" cy="12344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29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Sin configuración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20240"/>
            <a:ext cx="4828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Un solo application.properties configura todo: base de datos, puerto, seguridad.
No hace falta instalar un servidor web — Spring Boot incluye Tomcat embebido.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4912"/>
            <a:ext cx="5029200" cy="19202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24912"/>
            <a:ext cx="5029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3464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Ciclo petición → respuesta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227832"/>
            <a:ext cx="48280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1. Llega GET /caballos
2. Security verifica rol
3. CaballoController llama al repository
4. JPA ejecuta la consulta en Supabase
5. Thymeleaf renderiza caballos/index.html
6. HTML final al navegador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417320"/>
            <a:ext cx="6080760" cy="32918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508760"/>
            <a:ext cx="58064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# application.properties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server.port=${PORT:8080}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spring.datasource.url=${DB_URL}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spring.datasource.username=${DB_USERNAME}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spring.jpa.hibernate.ddl-auto=none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// CaballoController.java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3FB950"/>
                </a:solidFill>
                <a:latin typeface="Courier New"/>
              </a:rPr>
              <a:t>@Controller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3FB950"/>
                </a:solidFill>
                <a:latin typeface="Courier New"/>
              </a:rPr>
              <a:t>@RequestMapping("/caballos")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public class CaballoController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3FB950"/>
                </a:solidFill>
                <a:latin typeface="Courier New"/>
              </a:rPr>
              <a:t>  @Autowired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private CaballoRepository repo;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3FB950"/>
                </a:solidFill>
                <a:latin typeface="Courier New"/>
              </a:rPr>
              <a:t>  @GetMapping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public String listar(Model model)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model.addAttribute("caballos",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   repo.findAll());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A657"/>
                </a:solidFill>
                <a:latin typeface="Courier New"/>
              </a:rPr>
              <a:t>    return "caballos/index";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11274552" cy="502920"/>
          </a:xfrm>
          <a:prstGeom prst="rect">
            <a:avLst/>
          </a:prstGeom>
          <a:solidFill>
            <a:srgbClr val="1A1F0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87375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6FC"/>
                </a:solidFill>
              </a:rPr>
              <a:t>💡  Spring Boot es como una cocina industrial lista para usar — los electrodomésticos (Tomcat, JPA, Security) ya están instalados. Solo traés los ingredientes (tu código).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Git y GitHub — Historial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Cada cambio queda registrado · Trabajo en equipo sin pisarse el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29200" cy="14630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2920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¿Qué hace Git?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20240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Guarda instantáneas (commits) en cada punto importante.
Si algo se rompe, podés volver a cualquier commit anterior con git checkout.
Cada commit registra: qué cambió, quién lo hizo y cuándo.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5029200" cy="1371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5029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815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8152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GitHub = Git en la nube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474720"/>
            <a:ext cx="48280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El repo local se sincroniza con GitHub.
Railway lee de GitHub — cada git push dispara un nuevo despliegue automático en producción.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417320"/>
            <a:ext cx="6080760" cy="30175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508760"/>
            <a:ext cx="58064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# Flujo de trabajo del proyecto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# Ver qué cambió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git status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git diff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# Preparar los cambios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git add src/main/java/...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# Guardar el commit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A657"/>
                </a:solidFill>
                <a:latin typeface="Courier New"/>
              </a:rPr>
              <a:t>git commit -m "feat: módulo Suministros"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# Subir a GitHub (dispara Railway)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git push origin main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# Historial del proyecto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3FB950"/>
                </a:solidFill>
                <a:latin typeface="Courier New"/>
              </a:rPr>
              <a:t>74488d7 Agregar 5 módulos + presentación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3FB950"/>
                </a:solidFill>
                <a:latin typeface="Courier New"/>
              </a:rPr>
              <a:t>6627052 Agregar página ER y procedimientos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3FB950"/>
                </a:solidFill>
                <a:latin typeface="Courier New"/>
              </a:rPr>
              <a:t>2c7c076 Agregar Spring Security con roles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3FB950"/>
                </a:solidFill>
                <a:latin typeface="Courier New"/>
              </a:rPr>
              <a:t>e7c051d Proyecto final IF-5100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11274552" cy="502920"/>
          </a:xfrm>
          <a:prstGeom prst="rect">
            <a:avLst/>
          </a:prstGeom>
          <a:solidFill>
            <a:srgbClr val="1A1F0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9087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6FC"/>
                </a:solidFill>
              </a:rPr>
              <a:t>💡  Git es como el historial de Google Docs — podés ver cada versión anterior y restaurarla. GitHub es el Google Drive donde se guarda todo en la nube.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Supabase y Railway — La Nube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Base de datos y servidor web, ambos gratuitos y siempre disponibles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77840" cy="32004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57784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🗄️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Supabase — PostgreSQL en la nube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20240"/>
            <a:ext cx="537667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Provee un servidor PostgreSQL completamente administrado.
El proyecto se conecta con la URL de Supabase — funciona igual
en la laptop y en producción.
URL de conexión:
jdbc:postgresql://aws-1...supabase.com:6543/postgres
Schema Visualizer, Dashboard SQL y backups automáticos incluidos.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5440680" cy="32004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44068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27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527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Railway — Servidor web en la nube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523951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Ejecuta el JAR de Spring Boot en un contenedor Docker.
Despliegue automático:
git push → Railway detecta el cambio →
compila el JAR → reinicia → nuevo código activo en ~2 min.
Las variables de entorno (DB_URL, DB_PASSWORD, PORT)
se configuran en Railway — nunca en el código fuente.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00600"/>
            <a:ext cx="11274552" cy="502920"/>
          </a:xfrm>
          <a:prstGeom prst="rect">
            <a:avLst/>
          </a:prstGeom>
          <a:solidFill>
            <a:srgbClr val="1A1F0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7375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6FC"/>
                </a:solidFill>
              </a:rPr>
              <a:t>💡  Supabase = contratar un DBA 24/7 que administra tu servidor de base de datos.  Railway = el local donde ponés tu negocio — vos ponés la app, ellos manejan el resto.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Spring Security — Acceso Controlado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Cada rol solo ve lo que necesita · Contraseñas encriptadas con BCrypt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468880" cy="16459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468880" cy="38100"/>
          </a:xfrm>
          <a:prstGeom prst="rect">
            <a:avLst/>
          </a:prstGeom>
          <a:solidFill>
            <a:srgbClr val="C6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F6FC"/>
                </a:solidFill>
              </a:rPr>
              <a:t>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BAC7"/>
                </a:solidFill>
              </a:rPr>
              <a:t>Acceso total a todos los módulos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417320"/>
            <a:ext cx="2468880" cy="16459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246888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F6FC"/>
                </a:solidFill>
              </a:rPr>
              <a:t>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VETERINARIO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359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BAC7"/>
                </a:solidFill>
              </a:rPr>
              <a:t>Historial vet. y alertas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417320"/>
            <a:ext cx="2468880" cy="16459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1417320"/>
            <a:ext cx="246888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F6FC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OPERADOR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359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BAC7"/>
                </a:solidFill>
              </a:rPr>
              <a:t>Eventos, facturas y resultados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1417320"/>
            <a:ext cx="2468880" cy="16459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1417320"/>
            <a:ext cx="24688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F6FC"/>
                </a:solidFill>
              </a:rPr>
              <a:t>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</a:rPr>
              <a:t>ENCARGADO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359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BAC7"/>
                </a:solidFill>
              </a:rPr>
              <a:t>Establos, suministros y alimentación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46120"/>
            <a:ext cx="11292840" cy="15087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337560"/>
            <a:ext cx="11018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// SecurityConfig — reglas de acceso por URL y rol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http.authorizeHttpRequests(auth -&gt; auth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.requestMatchers("/historial/**", "/alertas/**").hasAnyRole("ADMIN", "VETERINARIO")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.requestMatchers("/suministros/**", "/alimentacion/**").hasAnyRole("ADMIN", "ENCARGADO")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.requestMatchers("/facturas/**", "/resultados/**").hasAnyRole("ADMIN", "OPERADOR")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  .anyRequest().authenticated()  // cualquier otra ruta requiere estar autenticado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);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1A1F0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1091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6FC"/>
                </a:solidFill>
              </a:rPr>
              <a:t>💡  Los usuarios y contraseñas se guardan en la tabla usuarios de Supabase. Spring Security los lee vía UsuarioDetailsService — no hay lista hardcodeada en el código.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Thymeleaf — Las Vistas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HTML procesado en el servidor con datos reales antes de llegar al navegador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29200" cy="1417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29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Server-Side Rendering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20240"/>
            <a:ext cx="4828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El servidor combina la plantilla HTML con los datos de la BD y envía HTML completo.
No hay API REST, no hay React, no hay JavaScript para cargar datos.
Lo que el usuario ve ya contiene los registros reales.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029200" cy="14173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5029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358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3580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th:sec — Integración con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429000"/>
            <a:ext cx="4828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sec:authorize="hasRole('ADMIN')" oculta elementos del HTML según el rol activo.
El botón "Eliminar" solo aparece para ADMIN, aunque el usuario manipule la URL.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417320"/>
            <a:ext cx="6080760" cy="29260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508760"/>
            <a:ext cx="5806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&lt;!-- caballos/index.html — tabla dinámica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&lt;tr th:each="c : ${caballos}"&gt;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&lt;td th:text="${c.nombre}"&gt;&lt;/td&gt;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&lt;td&gt;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&lt;span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A657"/>
                </a:solidFill>
                <a:latin typeface="Courier New"/>
              </a:rPr>
              <a:t>      th:class="${c.estadoSalud == 'Óptimo'}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3FB950"/>
                </a:solidFill>
                <a:latin typeface="Courier New"/>
              </a:rPr>
              <a:t>               ? 'badge badge-green'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78166"/>
                </a:solidFill>
                <a:latin typeface="Courier New"/>
              </a:rPr>
              <a:t>               : 'badge badge-red'"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 th:text="${c.estadoSalud}"&gt;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&lt;/span&gt;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&lt;/td&gt;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  &lt;!-- Solo ADMIN ve el botón eliminar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3FB950"/>
                </a:solidFill>
                <a:latin typeface="Courier New"/>
              </a:rPr>
              <a:t>  &lt;td sec:authorize="hasRole('ADMIN')"&gt;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&lt;a th:href="@{/caballos/eliminar/{id}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       (id=${c.idCaballo})}"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  class="btn-delete"&gt;Eliminar&lt;/a&gt;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&lt;/td&gt;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&lt;/tr&gt;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26280"/>
            <a:ext cx="11274552" cy="502920"/>
          </a:xfrm>
          <a:prstGeom prst="rect">
            <a:avLst/>
          </a:prstGeom>
          <a:solidFill>
            <a:srgbClr val="1A1F0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9943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6FC"/>
                </a:solidFill>
              </a:rPr>
              <a:t>💡  Thymeleaf es como una plantilla de Word con combinación de correspondencia — el documento ya está hecho, solo se llenan los datos antes de imprimir.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Base de Datos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14 tablas normalizadas · Toda la lógica de negocio vive en stored procedures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29200" cy="3017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29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📊 14 Tablas del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Propietarios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38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Establos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Caballos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Eventos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Inscripciones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33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Resultados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809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Hist.Veterinario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9809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Alertas Vet.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28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Suministros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28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Alimentacion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6758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Facturas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6758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Transacciones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Pais / Provincia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• Canton / Barrio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44568"/>
            <a:ext cx="5029200" cy="11887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544568"/>
            <a:ext cx="502920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65429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654296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Stored Procedures con prefijo sp_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047488"/>
            <a:ext cx="4828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Spring Data JPA llama con @Query(nativeQuery=true)
CALL sp_insertar_caballo(:p_id, :p_nombre, ...)
Si cambia la regla, solo se actualiza el procedure — sin tocar Java.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417320"/>
            <a:ext cx="6080760" cy="4343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1508760"/>
            <a:ext cx="580644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-- sp_insertar_alimentacion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-- descuenta stock al registrar ración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78166"/>
                </a:solidFill>
                <a:latin typeface="Courier New"/>
              </a:rPr>
              <a:t>CREATE OR REPLACE PROCEDURE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sp_insertar_alimentacion(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p_id_caballo    VARCHAR,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p_id_suministro VARCHAR,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p_tipo_alimento VARCHAR,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p_cantidad      DECIMAL,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p_fecha         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LANGUAGE plpgsql AS $$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78166"/>
                </a:solidFill>
                <a:latin typeface="Courier New"/>
              </a:rPr>
              <a:t>BEGIN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INSERT INTO alimentacion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(id_caballo, id_suministro,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tipo_alimento, cantidad, fecha)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VALUES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(p_id_caballo, p_id_suministro,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p_tipo_alimento, p_cantidad, p_fecha);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  -- Descuenta del inventario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UPDATE suministro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SET cantidad_disponible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    cantidad_disponible - p_cantidad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WHERE id_suministro = p_id_suministro;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END; $$;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Automatización — Triggers y Bitácoras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La base de datos trabaja sola — auditoría completa sin intervención del programador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99766" cy="2880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699766" cy="38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210540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Bitácoras Particionadas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20240"/>
            <a:ext cx="249859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6 tablas × 4 trimestres
Cada partición filtra por rango de fechas — consultar Q2 no toca registros del Q1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8406" y="1417320"/>
            <a:ext cx="2699766" cy="2880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8406" y="1417320"/>
            <a:ext cx="2699766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9846" y="1527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1326" y="1527048"/>
            <a:ext cx="210540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18 Triggers de Auditoría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8134" y="1920240"/>
            <a:ext cx="249859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3 por tabla auditada:
AFTER INSERT · UPDATE · DELETE
Captura CURRENT_USER, TG_OP, NOW() en cada operación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9612" y="1417320"/>
            <a:ext cx="2699766" cy="2880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9612" y="1417320"/>
            <a:ext cx="2699766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1052" y="1527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2532" y="1527048"/>
            <a:ext cx="210540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Alerta Vencimiento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9340" y="1920240"/>
            <a:ext cx="249859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Trigger AFTER UPDATE en Caballos
Si la certificación vence en menos de 30 días, inserta en alerta_veterinaria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30818" y="1417320"/>
            <a:ext cx="2699766" cy="2880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30818" y="1417320"/>
            <a:ext cx="2699766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22258" y="1527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3738" y="1527048"/>
            <a:ext cx="210540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Descuento Frecuentes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0546" y="1920240"/>
            <a:ext cx="249859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DBAC7"/>
                </a:solidFill>
              </a:rPr>
              <a:t>Trigger BEFORE INSERT en Facturas
&gt;₡500k facturados en 6 meses → aplica 10% descuento automático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11274552" cy="502920"/>
          </a:xfrm>
          <a:prstGeom prst="rect">
            <a:avLst/>
          </a:prstGeom>
          <a:solidFill>
            <a:srgbClr val="1A1F0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55371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6FC"/>
                </a:solidFill>
              </a:rPr>
              <a:t>💡  Los triggers corren en PostgreSQL, NO en Spring Boot. El controller solo llama sp_insertar_alimentacion() — la auditoría, descuento y alertas ocurren automáticamente en la BD.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Facturación — Ley 9635 Costa 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IVA 13% calculado automáticamente · Historial de pagos por transacción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691640" cy="10515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8A6FF"/>
                </a:solidFill>
              </a:rPr>
              <a:t>₡150,000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Precio inscripción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664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417320"/>
            <a:ext cx="1691640" cy="10515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508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A657"/>
                </a:solidFill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99339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Comisión admin.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664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1691640" cy="10515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508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FB950"/>
                </a:solidFill>
              </a:rPr>
              <a:t>10%*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99339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Desc. frecuente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64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417320"/>
            <a:ext cx="1691640" cy="10515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508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78166"/>
                </a:solidFill>
              </a:rPr>
              <a:t>13%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99339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IVA Ley 9635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664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B949E"/>
                </a:solidFill>
              </a:rPr>
              <a:t>=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1417320"/>
            <a:ext cx="1691640" cy="1051560"/>
          </a:xfrm>
          <a:prstGeom prst="rect">
            <a:avLst/>
          </a:prstGeom>
          <a:solidFill>
            <a:srgbClr val="161B27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1508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</a:rPr>
              <a:t>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99339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Factura 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6060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* Solo aplica si el propietario supera ₡500,000 en los últimos 6 meses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26080"/>
            <a:ext cx="11274552" cy="23317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017520"/>
            <a:ext cx="11000232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8B949E"/>
                </a:solidFill>
                <a:latin typeface="Courier New"/>
              </a:rPr>
              <a:t>-- Vista resumen de facturas con cálculo IVA visible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SELECT (p.nombre || ' ' || p.apellidos) AS propietario,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  e.nombre AS evento, f.subtotal, f.descuento,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  (f.subtotal - f.descuento) AS base_imponible,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  f.impuestos AS iva_13pct, f.total,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  CASE WHEN f.descuento &gt; 0 THEN 'Sí (cliente frecuente)' ELSE 'No' END AS descuento_aplicado,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       f.estado_pago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FROM factura 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JOIN propietario p ON p.id_propietario = f.id_propietario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JOIN evento e ON e.id_evento = f.id_evento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ADBAC7"/>
                </a:solidFill>
                <a:latin typeface="Courier New"/>
              </a:rPr>
              <a:t>ORDER BY f.fecha_emision DESC;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12 Módulos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Cada módulo: formulario de registro, tabla con lista, editar y eliminar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699766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6596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Propietarios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6771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CRUD completo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8406" y="146304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8406" y="1463040"/>
            <a:ext cx="2699766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8134" y="15727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8134" y="196596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Establos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8134" y="226771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Estado y capacidad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9612" y="146304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9612" y="1463040"/>
            <a:ext cx="2699766" cy="254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9340" y="15727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9340" y="196596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Caballos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9340" y="226771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Salud y propietario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30818" y="146304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30818" y="1463040"/>
            <a:ext cx="2699766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0546" y="15727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0546" y="196596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Eventos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0546" y="226771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Carreras y premios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2699766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218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61188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Inscripciones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91363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Caballo + Evento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8406" y="310896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48406" y="3108960"/>
            <a:ext cx="2699766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8134" y="3218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8134" y="361188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Resultados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8134" y="391363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Posiciones y premios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9612" y="310896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9612" y="3108960"/>
            <a:ext cx="2699766" cy="254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9340" y="3218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9340" y="361188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Facturas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9340" y="391363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IVA + descuentos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30818" y="310896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30818" y="3108960"/>
            <a:ext cx="2699766" cy="254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0546" y="3218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0546" y="361188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Transacciones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40546" y="391363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Pagos de facturas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75488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754880"/>
            <a:ext cx="2699766" cy="254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864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525780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Historial Vet.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555955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Diagnósticos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8406" y="475488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48406" y="4754880"/>
            <a:ext cx="2699766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58134" y="4864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58134" y="525780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Alertas Vet.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8134" y="555955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Vencimientos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9612" y="475488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39612" y="4754880"/>
            <a:ext cx="2699766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9340" y="4864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49340" y="525780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Suministros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49340" y="555955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Inventario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30818" y="4754880"/>
            <a:ext cx="2699766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30818" y="4754880"/>
            <a:ext cx="2699766" cy="254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40546" y="4864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6FC"/>
                </a:solidFill>
              </a:rPr>
              <a:t>🌾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40546" y="5257800"/>
            <a:ext cx="251688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</a:rPr>
              <a:t>Alimentación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40546" y="5559552"/>
            <a:ext cx="251688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Raciones diarias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Proceso de Construcción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5 fases ordenadas — cada una depende de la anterior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163470" cy="3017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16347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0335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6FC"/>
                </a:solidFill>
              </a:rPr>
              <a:t>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11680"/>
            <a:ext cx="20263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1. Diseño BD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423160"/>
            <a:ext cx="202631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BAC7"/>
                </a:solidFill>
              </a:rPr>
              <a:t>Diagrama ER
Normalización 3FN
DDL: 14 tablas
Constraints FK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0670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3822" y="1417320"/>
            <a:ext cx="2163470" cy="3017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3822" y="1417320"/>
            <a:ext cx="216347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6957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6FC"/>
                </a:solidFill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6974" y="2011680"/>
            <a:ext cx="20263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2. Lógica 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6974" y="2423160"/>
            <a:ext cx="202631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BAC7"/>
                </a:solidFill>
              </a:rPr>
              <a:t>Stored procedures
Bitácoras particionadas
18 triggers auditoría
Roles y permisos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0444" y="1417320"/>
            <a:ext cx="2163470" cy="3017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0444" y="1417320"/>
            <a:ext cx="216347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35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6FC"/>
                </a:solidFill>
              </a:rPr>
              <a:t>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3596" y="2011680"/>
            <a:ext cx="20263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657"/>
                </a:solidFill>
              </a:rPr>
              <a:t>3. Spring Boot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3596" y="2423160"/>
            <a:ext cx="202631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BAC7"/>
                </a:solidFill>
              </a:rPr>
              <a:t>Proyecto Maven
Modelos JPA
Repositorios
Controllers MVC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3915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67067" y="1417320"/>
            <a:ext cx="2163470" cy="3017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67067" y="1417320"/>
            <a:ext cx="2163470" cy="381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0202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6FC"/>
                </a:solidFill>
              </a:rP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0219" y="2011680"/>
            <a:ext cx="20263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78166"/>
                </a:solidFill>
              </a:rPr>
              <a:t>4. Spring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0219" y="2423160"/>
            <a:ext cx="202631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BAC7"/>
                </a:solidFill>
              </a:rPr>
              <a:t>Login personalizado
4 roles definidos
Reglas por URL
BCrypt en contraseñas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0537" y="2606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03689" y="1417320"/>
            <a:ext cx="2163470" cy="3017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03689" y="1417320"/>
            <a:ext cx="216347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56824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6FC"/>
                </a:solidFill>
              </a:rP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6841" y="2011680"/>
            <a:ext cx="20263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</a:rPr>
              <a:t>5. Git + Railway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6841" y="2423160"/>
            <a:ext cx="202631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BAC7"/>
                </a:solidFill>
              </a:rPr>
              <a:t>GitHub repo público
Railway conectado
Supabase cloud
CI/CD automático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72000"/>
            <a:ext cx="11274552" cy="502920"/>
          </a:xfrm>
          <a:prstGeom prst="rect">
            <a:avLst/>
          </a:prstGeom>
          <a:solidFill>
            <a:srgbClr val="1A1F0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64515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6FC"/>
                </a:solidFill>
              </a:rPr>
              <a:t>💡  Regla de oro: no se escribe código Java sin que el stored procedure ya exista y funcione en Supabase. El servidor de aplicaciones es el cliente de la BD, no al revés.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</a:rPr>
              <a:t>Resumen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8074152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595360" cy="594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81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</a:rPr>
              <a:t>🗄️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33856"/>
            <a:ext cx="7909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6FC"/>
                </a:solidFill>
              </a:rPr>
              <a:t>14 tablas normalizadas hasta 3FN con constraints, FK y CHECK en PostgreSQL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09928"/>
            <a:ext cx="8595360" cy="594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09928"/>
            <a:ext cx="381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1965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37944"/>
            <a:ext cx="7909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6FC"/>
                </a:solidFill>
              </a:rPr>
              <a:t>Stored procedures para todo CRUD + lógica de negocio (IVA, descuentos, premios)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14016"/>
            <a:ext cx="8595360" cy="594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14016"/>
            <a:ext cx="381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2374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542032"/>
            <a:ext cx="7909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6FC"/>
                </a:solidFill>
              </a:rPr>
              <a:t>6 bitácoras particionadas por trimestre · 18 triggers de auditoría automática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18104"/>
            <a:ext cx="8595360" cy="594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18104"/>
            <a:ext cx="381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2783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</a:rPr>
              <a:t>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246120"/>
            <a:ext cx="7909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6FC"/>
                </a:solidFill>
              </a:rPr>
              <a:t>Spring Boot 3.5 con 12 módulos CRUD usando Thymeleaf + Spring Data JPA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22192"/>
            <a:ext cx="8595360" cy="594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22192"/>
            <a:ext cx="381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319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</a:rP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50208"/>
            <a:ext cx="7909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6FC"/>
                </a:solidFill>
              </a:rPr>
              <a:t>Spring Security con 4 roles, login propio y contraseñas BCrypt en Supabase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26280"/>
            <a:ext cx="8595360" cy="594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26280"/>
            <a:ext cx="381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63600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</a:rPr>
              <a:t>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654296"/>
            <a:ext cx="7909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6FC"/>
                </a:solidFill>
              </a:rPr>
              <a:t>Despliegue continuo: git push → Railway compila y publica en producción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30368"/>
            <a:ext cx="8595360" cy="594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230368"/>
            <a:ext cx="381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34009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</a:rPr>
              <a:t>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358384"/>
            <a:ext cx="7909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6FC"/>
                </a:solidFill>
              </a:rPr>
              <a:t>Facturación con IVA 13% según Ley 9635 CR · Historial de transacciones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005840"/>
            <a:ext cx="2423160" cy="24231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326880" y="349300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8B949E"/>
                </a:solidFill>
              </a:rPr>
              <a:t>hipodromonacional-production.up.railway.app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3657600"/>
            <a:ext cx="2423160" cy="6858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657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UCR Sede Liberia · 2025–2026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97763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0F6FC"/>
                </a:solidFill>
              </a:rPr>
              <a:t>IF-5100 Bases de Datos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Diagrama Entidad-Relación  —  19 tablas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475488"/>
            <a:ext cx="731520" cy="260603"/>
          </a:xfrm>
          <a:prstGeom prst="rect">
            <a:avLst/>
          </a:prstGeom>
          <a:solidFill>
            <a:srgbClr val="09201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475488"/>
            <a:ext cx="73152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pais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1" y="475488"/>
            <a:ext cx="987552" cy="260603"/>
          </a:xfrm>
          <a:prstGeom prst="rect">
            <a:avLst/>
          </a:prstGeom>
          <a:solidFill>
            <a:srgbClr val="09201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475488"/>
            <a:ext cx="987552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provincia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9696" y="475488"/>
            <a:ext cx="804672" cy="260603"/>
          </a:xfrm>
          <a:prstGeom prst="rect">
            <a:avLst/>
          </a:prstGeom>
          <a:solidFill>
            <a:srgbClr val="09201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9696" y="475488"/>
            <a:ext cx="804672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canton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475488"/>
            <a:ext cx="804672" cy="260603"/>
          </a:xfrm>
          <a:prstGeom prst="rect">
            <a:avLst/>
          </a:prstGeom>
          <a:solidFill>
            <a:srgbClr val="09201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475488"/>
            <a:ext cx="804672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distrito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86784" y="475488"/>
            <a:ext cx="749808" cy="260603"/>
          </a:xfrm>
          <a:prstGeom prst="rect">
            <a:avLst/>
          </a:prstGeom>
          <a:solidFill>
            <a:srgbClr val="09201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6784" y="475488"/>
            <a:ext cx="74980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barrio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605332"/>
            <a:ext cx="118871" cy="0"/>
          </a:xfrm>
          <a:prstGeom prst="line">
            <a:avLst/>
          </a:prstGeom>
          <a:ln w="1016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020824" y="605332"/>
            <a:ext cx="118872" cy="0"/>
          </a:xfrm>
          <a:prstGeom prst="line">
            <a:avLst/>
          </a:prstGeom>
          <a:ln w="1016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53512" y="605332"/>
            <a:ext cx="109728" cy="0"/>
          </a:xfrm>
          <a:prstGeom prst="line">
            <a:avLst/>
          </a:prstGeom>
          <a:ln w="1016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67912" y="605332"/>
            <a:ext cx="118872" cy="0"/>
          </a:xfrm>
          <a:prstGeom prst="line">
            <a:avLst/>
          </a:prstGeom>
          <a:ln w="1016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82880" y="1280160"/>
            <a:ext cx="1234440" cy="260603"/>
          </a:xfrm>
          <a:prstGeom prst="rect">
            <a:avLst/>
          </a:prstGeom>
          <a:solidFill>
            <a:srgbClr val="0914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1280160"/>
            <a:ext cx="123444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propietario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194560"/>
            <a:ext cx="1024128" cy="260603"/>
          </a:xfrm>
          <a:prstGeom prst="rect">
            <a:avLst/>
          </a:prstGeom>
          <a:solidFill>
            <a:srgbClr val="0914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2194560"/>
            <a:ext cx="102412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establo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1737360"/>
            <a:ext cx="1143000" cy="260603"/>
          </a:xfrm>
          <a:prstGeom prst="rect">
            <a:avLst/>
          </a:prstGeom>
          <a:solidFill>
            <a:srgbClr val="0914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1737360"/>
            <a:ext cx="114300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caballo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280160"/>
            <a:ext cx="960120" cy="260603"/>
          </a:xfrm>
          <a:prstGeom prst="rect">
            <a:avLst/>
          </a:prstGeom>
          <a:solidFill>
            <a:srgbClr val="0914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1280160"/>
            <a:ext cx="96012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evento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194560"/>
            <a:ext cx="1170432" cy="260603"/>
          </a:xfrm>
          <a:prstGeom prst="rect">
            <a:avLst/>
          </a:prstGeom>
          <a:solidFill>
            <a:srgbClr val="0914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194560"/>
            <a:ext cx="1170432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inscripcion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56816" y="2880360"/>
            <a:ext cx="2212848" cy="260603"/>
          </a:xfrm>
          <a:prstGeom prst="rect">
            <a:avLst/>
          </a:prstGeom>
          <a:solidFill>
            <a:srgbClr val="0914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56816" y="2880360"/>
            <a:ext cx="221284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historial_veterinario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2880360"/>
            <a:ext cx="960120" cy="260603"/>
          </a:xfrm>
          <a:prstGeom prst="rect">
            <a:avLst/>
          </a:prstGeom>
          <a:solidFill>
            <a:srgbClr val="0914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2880360"/>
            <a:ext cx="96012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factura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17320" y="1410004"/>
            <a:ext cx="640080" cy="457200"/>
          </a:xfrm>
          <a:prstGeom prst="line">
            <a:avLst/>
          </a:prstGeom>
          <a:ln w="1016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207008" y="1997964"/>
            <a:ext cx="850392" cy="326440"/>
          </a:xfrm>
          <a:prstGeom prst="line">
            <a:avLst/>
          </a:prstGeom>
          <a:ln w="1016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28900" y="1997964"/>
            <a:ext cx="0" cy="882396"/>
          </a:xfrm>
          <a:prstGeom prst="line">
            <a:avLst/>
          </a:prstGeom>
          <a:ln w="1016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200400" y="1867204"/>
            <a:ext cx="1188720" cy="457200"/>
          </a:xfrm>
          <a:prstGeom prst="line">
            <a:avLst/>
          </a:prstGeom>
          <a:ln w="1016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69180" y="1540764"/>
            <a:ext cx="0" cy="653796"/>
          </a:xfrm>
          <a:prstGeom prst="line">
            <a:avLst/>
          </a:prstGeom>
          <a:ln w="1016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17320" y="1410004"/>
            <a:ext cx="2971800" cy="1600200"/>
          </a:xfrm>
          <a:prstGeom prst="line">
            <a:avLst/>
          </a:prstGeom>
          <a:ln w="1016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82880" y="3977639"/>
            <a:ext cx="1143000" cy="260603"/>
          </a:xfrm>
          <a:prstGeom prst="rect">
            <a:avLst/>
          </a:prstGeom>
          <a:solidFill>
            <a:srgbClr val="18092E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3977639"/>
            <a:ext cx="114300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suministro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56816" y="3977639"/>
            <a:ext cx="1298448" cy="260603"/>
          </a:xfrm>
          <a:prstGeom prst="rect">
            <a:avLst/>
          </a:prstGeom>
          <a:solidFill>
            <a:srgbClr val="18092E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56816" y="3977639"/>
            <a:ext cx="129844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alimentacion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3977639"/>
            <a:ext cx="1874519" cy="260603"/>
          </a:xfrm>
          <a:prstGeom prst="rect">
            <a:avLst/>
          </a:prstGeom>
          <a:solidFill>
            <a:srgbClr val="18092E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3977639"/>
            <a:ext cx="1874519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resultado_carrera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2194560"/>
            <a:ext cx="1993392" cy="260603"/>
          </a:xfrm>
          <a:prstGeom prst="rect">
            <a:avLst/>
          </a:prstGeom>
          <a:solidFill>
            <a:srgbClr val="18092E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2194560"/>
            <a:ext cx="1993392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alerta_veterinaria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3108960"/>
            <a:ext cx="2176272" cy="260603"/>
          </a:xfrm>
          <a:prstGeom prst="rect">
            <a:avLst/>
          </a:prstGeom>
          <a:solidFill>
            <a:srgbClr val="18092E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3108960"/>
            <a:ext cx="2176272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historial_transaccion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25880" y="4107484"/>
            <a:ext cx="630936" cy="0"/>
          </a:xfrm>
          <a:prstGeom prst="line">
            <a:avLst/>
          </a:prstGeom>
          <a:ln w="10160">
            <a:solidFill>
              <a:srgbClr val="B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103120" y="1997964"/>
            <a:ext cx="0" cy="1979675"/>
          </a:xfrm>
          <a:prstGeom prst="line">
            <a:avLst/>
          </a:prstGeom>
          <a:ln w="10160">
            <a:solidFill>
              <a:srgbClr val="B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69180" y="1540764"/>
            <a:ext cx="320040" cy="2436875"/>
          </a:xfrm>
          <a:prstGeom prst="line">
            <a:avLst/>
          </a:prstGeom>
          <a:ln w="10160">
            <a:solidFill>
              <a:srgbClr val="B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00400" y="1867204"/>
            <a:ext cx="3429000" cy="457200"/>
          </a:xfrm>
          <a:prstGeom prst="line">
            <a:avLst/>
          </a:prstGeom>
          <a:ln w="10160">
            <a:solidFill>
              <a:srgbClr val="B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349240" y="3010204"/>
            <a:ext cx="1280160" cy="228600"/>
          </a:xfrm>
          <a:prstGeom prst="line">
            <a:avLst/>
          </a:prstGeom>
          <a:ln w="10160">
            <a:solidFill>
              <a:srgbClr val="B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052560" y="1280160"/>
            <a:ext cx="1143000" cy="260603"/>
          </a:xfrm>
          <a:prstGeom prst="rect">
            <a:avLst/>
          </a:prstGeom>
          <a:solidFill>
            <a:srgbClr val="221205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1280160"/>
            <a:ext cx="114300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usuarios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2194560"/>
            <a:ext cx="2011680" cy="260603"/>
          </a:xfrm>
          <a:prstGeom prst="rect">
            <a:avLst/>
          </a:prstGeom>
          <a:solidFill>
            <a:srgbClr val="221205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2194560"/>
            <a:ext cx="20116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0F6FC"/>
                </a:solidFill>
              </a:rPr>
              <a:t>bitacora_auditoria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52560" y="3794760"/>
            <a:ext cx="2999232" cy="201168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52560" y="3849624"/>
            <a:ext cx="2999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0F6FC"/>
                </a:solidFill>
              </a:rPr>
              <a:t>Leyenda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80576" y="4197096"/>
            <a:ext cx="201168" cy="182880"/>
          </a:xfrm>
          <a:prstGeom prst="rect">
            <a:avLst/>
          </a:prstGeom>
          <a:solidFill>
            <a:srgbClr val="09201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54896" y="416052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DBAC7"/>
                </a:solidFill>
              </a:rPr>
              <a:t>Tablas geográficas  (5)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80576" y="4562856"/>
            <a:ext cx="201168" cy="182880"/>
          </a:xfrm>
          <a:prstGeom prst="rect">
            <a:avLst/>
          </a:prstGeom>
          <a:solidFill>
            <a:srgbClr val="0914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54896" y="45262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DBAC7"/>
                </a:solidFill>
              </a:rPr>
              <a:t>Fase 1 — principales  (7)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80576" y="4928616"/>
            <a:ext cx="201168" cy="182880"/>
          </a:xfrm>
          <a:prstGeom prst="rect">
            <a:avLst/>
          </a:prstGeom>
          <a:solidFill>
            <a:srgbClr val="18092E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54896" y="489204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DBAC7"/>
                </a:solidFill>
              </a:rPr>
              <a:t>Fase 2 — nuevas  (5)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0576" y="5294376"/>
            <a:ext cx="201168" cy="182880"/>
          </a:xfrm>
          <a:prstGeom prst="rect">
            <a:avLst/>
          </a:prstGeom>
          <a:solidFill>
            <a:srgbClr val="221205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54896" y="52578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DBAC7"/>
                </a:solidFill>
              </a:rPr>
              <a:t>Sistema  (2)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91672" y="6492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