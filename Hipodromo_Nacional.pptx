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0" cy="6858000"/>
          </a:xfrm>
          <a:prstGeom prst="rect">
            <a:avLst/>
          </a:prstGeom>
          <a:solidFill>
            <a:srgbClr val="1C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0">
                <a:solidFill>
                  <a:srgbClr val="F0F6FC"/>
                </a:solidFill>
              </a:rPr>
              <a:t>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F0F6FC"/>
                </a:solidFill>
              </a:rPr>
              <a:t>HIPÓDROMO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2316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58A6FF"/>
                </a:solidFill>
              </a:rPr>
              <a:t>NACIONAL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4612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B949E"/>
                </a:solidFill>
              </a:rPr>
              <a:t>Sistema Web de Control de Carrera de Caballos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840480"/>
            <a:ext cx="1897380" cy="274320"/>
          </a:xfrm>
          <a:prstGeom prst="roundRect">
            <a:avLst/>
          </a:prstGeom>
          <a:solidFill>
            <a:srgbClr val="161B27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58A6FF"/>
                </a:solidFill>
              </a:rPr>
              <a:t>Spring Boot 3.5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00300" y="3840480"/>
            <a:ext cx="1897380" cy="274320"/>
          </a:xfrm>
          <a:prstGeom prst="roundRect">
            <a:avLst/>
          </a:prstGeom>
          <a:solidFill>
            <a:srgbClr val="161B27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58A6FF"/>
                </a:solidFill>
              </a:rPr>
              <a:t>Spring Security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3840480"/>
            <a:ext cx="1266444" cy="274320"/>
          </a:xfrm>
          <a:prstGeom prst="roundRect">
            <a:avLst/>
          </a:prstGeom>
          <a:solidFill>
            <a:srgbClr val="161B27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3FB950"/>
                </a:solidFill>
              </a:rPr>
              <a:t>Thymeleaf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55564" y="3840480"/>
            <a:ext cx="1897380" cy="274320"/>
          </a:xfrm>
          <a:prstGeom prst="roundRect">
            <a:avLst/>
          </a:prstGeom>
          <a:solidFill>
            <a:srgbClr val="161B27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3FB950"/>
                </a:solidFill>
              </a:rPr>
              <a:t>Spring Data JPA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98664" y="3840480"/>
            <a:ext cx="1371600" cy="274320"/>
          </a:xfrm>
          <a:prstGeom prst="roundRect">
            <a:avLst/>
          </a:prstGeom>
          <a:solidFill>
            <a:srgbClr val="161B27"/>
          </a:solidFill>
          <a:ln w="12700">
            <a:solidFill>
              <a:srgbClr val="FFA6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A657"/>
                </a:solidFill>
              </a:rPr>
              <a:t>PostgreSQL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15984" y="3840480"/>
            <a:ext cx="1161288" cy="274320"/>
          </a:xfrm>
          <a:prstGeom prst="roundRect">
            <a:avLst/>
          </a:prstGeom>
          <a:solidFill>
            <a:srgbClr val="161B27"/>
          </a:solidFill>
          <a:ln w="12700">
            <a:solidFill>
              <a:srgbClr val="FFA6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A657"/>
                </a:solidFill>
              </a:rPr>
              <a:t>Supabase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22992" y="3840480"/>
            <a:ext cx="1056132" cy="274320"/>
          </a:xfrm>
          <a:prstGeom prst="roundRect">
            <a:avLst/>
          </a:prstGeom>
          <a:solidFill>
            <a:srgbClr val="161B27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D700"/>
                </a:solidFill>
              </a:rPr>
              <a:t>Railway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324844" y="3840480"/>
            <a:ext cx="1581912" cy="274320"/>
          </a:xfrm>
          <a:prstGeom prst="roundRect">
            <a:avLst/>
          </a:prstGeom>
          <a:solidFill>
            <a:srgbClr val="161B27"/>
          </a:solidFill>
          <a:ln w="1270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78166"/>
                </a:solidFill>
              </a:rPr>
              <a:t>Git / GitHub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572000"/>
            <a:ext cx="8229600" cy="127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6634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</a:rPr>
              <a:t>IF-5100 Administración de Bases de Datos  ·  Universidad de Costa Rica  ·  Sede Liberia  ·  2025–2026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1672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</a:rP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45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0F6FC"/>
                </a:solidFill>
              </a:rPr>
              <a:t>Arquitectura del 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Cómo fluye una petición desde el navegador hasta PostgreSQL en Supabase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74552" cy="254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1672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</a:rPr>
              <a:t>2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74552" cy="658368"/>
          </a:xfrm>
          <a:prstGeom prst="rect">
            <a:avLst/>
          </a:prstGeom>
          <a:solidFill>
            <a:srgbClr val="161B27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3619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</a:rPr>
              <a:t>🌐  Navegador (Usuario)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536192"/>
            <a:ext cx="7708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DBAC7"/>
                </a:solidFill>
              </a:rPr>
              <a:t>Abre https://hipodromo.railway.app · HTML generado en el servidor · Sin JavaScript pesado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20482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B949E"/>
                </a:solidFill>
              </a:rPr>
              <a:t>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84832"/>
            <a:ext cx="11274552" cy="658368"/>
          </a:xfrm>
          <a:prstGeom prst="rect">
            <a:avLst/>
          </a:prstGeom>
          <a:solidFill>
            <a:srgbClr val="161B27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249424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B950"/>
                </a:solidFill>
              </a:rPr>
              <a:t>🔒  Spring Security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249424"/>
            <a:ext cx="7708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DBAC7"/>
                </a:solidFill>
              </a:rPr>
              <a:t>Intercepta cada petición · Verifica sesión · Redirige a /login · Aplica reglas de rol por URL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7614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B949E"/>
                </a:solidFill>
              </a:rPr>
              <a:t>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98064"/>
            <a:ext cx="11274552" cy="658368"/>
          </a:xfrm>
          <a:prstGeom prst="rect">
            <a:avLst/>
          </a:prstGeom>
          <a:solidFill>
            <a:srgbClr val="161B27"/>
          </a:solidFill>
          <a:ln w="12700">
            <a:solidFill>
              <a:srgbClr val="FFA6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962656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A657"/>
                </a:solidFill>
              </a:rPr>
              <a:t>⚙️  Controllers (MVC)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962656"/>
            <a:ext cx="7708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DBAC7"/>
                </a:solidFill>
              </a:rPr>
              <a:t>Recibe la petición HTTP · Llama al Repository · Agrega datos al Model · Devuelve template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34747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B949E"/>
                </a:solidFill>
              </a:rPr>
              <a:t>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511296"/>
            <a:ext cx="11274552" cy="658368"/>
          </a:xfrm>
          <a:prstGeom prst="rect">
            <a:avLst/>
          </a:prstGeom>
          <a:solidFill>
            <a:srgbClr val="161B27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67588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</a:rPr>
              <a:t>📦  Spring Data JPA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675888"/>
            <a:ext cx="7708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DBAC7"/>
                </a:solidFill>
              </a:rPr>
              <a:t>Repositorios con @Query(nativeQuery=true) · Invoca stored procedures: CALL sp_insertar_caballo(...)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41879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B949E"/>
                </a:solidFill>
              </a:rPr>
              <a:t>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24528"/>
            <a:ext cx="11274552" cy="658368"/>
          </a:xfrm>
          <a:prstGeom prst="rect">
            <a:avLst/>
          </a:prstGeom>
          <a:solidFill>
            <a:srgbClr val="161B27"/>
          </a:solidFill>
          <a:ln w="1270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3891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78166"/>
                </a:solidFill>
              </a:rPr>
              <a:t>🗃️  PostgreSQL (Supabase)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4389120"/>
            <a:ext cx="7708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DBAC7"/>
                </a:solidFill>
              </a:rPr>
              <a:t>14 tablas · Stored procedures · Triggers de auditoría · Bitácoras particionadas por trimestre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45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0F6FC"/>
                </a:solidFill>
              </a:rPr>
              <a:t>Spring Boot — El Motor del 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Framework Java que convierte código en una aplicación web lista para producción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74552" cy="254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1672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</a:rPr>
              <a:t>3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029200" cy="123444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029200" cy="381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27048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0F6FC"/>
                </a:solidFill>
              </a:rPr>
              <a:t>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527048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F6FC"/>
                </a:solidFill>
              </a:rPr>
              <a:t>Sin configuración manual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920240"/>
            <a:ext cx="48280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DBAC7"/>
                </a:solidFill>
              </a:rPr>
              <a:t>Un solo application.properties configura todo: base de datos, puerto, seguridad.
No hace falta instalar un servidor web — Spring Boot incluye Tomcat embebido.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24912"/>
            <a:ext cx="5029200" cy="192024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24912"/>
            <a:ext cx="5029200" cy="3810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83464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0F6FC"/>
                </a:solidFill>
              </a:rPr>
              <a:t>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834640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F6FC"/>
                </a:solidFill>
              </a:rPr>
              <a:t>Ciclo petición → respuesta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227832"/>
            <a:ext cx="482803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DBAC7"/>
                </a:solidFill>
              </a:rPr>
              <a:t>1. Llega GET /caballos
2. Security verifica rol
3. CaballoController llama al repository
4. JPA ejecuta la consulta en Supabase
5. Thymeleaf renderiza caballos/index.html
6. HTML final al navegador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0" y="1417320"/>
            <a:ext cx="6080760" cy="3291840"/>
          </a:xfrm>
          <a:prstGeom prst="rect">
            <a:avLst/>
          </a:prstGeom>
          <a:solidFill>
            <a:srgbClr val="010409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06440" y="1508760"/>
            <a:ext cx="580644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8B949E"/>
                </a:solidFill>
                <a:latin typeface="Courier New"/>
              </a:rPr>
              <a:t># application.properties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server.port=${PORT:8080}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spring.datasource.url=${DB_URL}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spring.datasource.username=${DB_USERNAME}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spring.jpa.hibernate.ddl-auto=none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8B949E"/>
                </a:solidFill>
                <a:latin typeface="Courier New"/>
              </a:rPr>
              <a:t>// CaballoController.java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3FB950"/>
                </a:solidFill>
                <a:latin typeface="Courier New"/>
              </a:rPr>
              <a:t>@Controller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3FB950"/>
                </a:solidFill>
                <a:latin typeface="Courier New"/>
              </a:rPr>
              <a:t>@RequestMapping("/caballos")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public class CaballoController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3FB950"/>
                </a:solidFill>
                <a:latin typeface="Courier New"/>
              </a:rPr>
              <a:t>  @Autowired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private CaballoRepository repo;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3FB950"/>
                </a:solidFill>
                <a:latin typeface="Courier New"/>
              </a:rPr>
              <a:t>  @GetMapping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public String listar(Model model)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  model.addAttribute("caballos",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      repo.findAll());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FFA657"/>
                </a:solidFill>
                <a:latin typeface="Courier New"/>
              </a:rPr>
              <a:t>    return "caballos/index";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00600"/>
            <a:ext cx="11274552" cy="502920"/>
          </a:xfrm>
          <a:prstGeom prst="rect">
            <a:avLst/>
          </a:prstGeom>
          <a:solidFill>
            <a:srgbClr val="1A1F0D"/>
          </a:solidFill>
          <a:ln w="254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873752"/>
            <a:ext cx="11000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0F6FC"/>
                </a:solidFill>
              </a:rPr>
              <a:t>💡  Spring Boot es como una cocina industrial lista para usar — los electrodomésticos (Tomcat, JPA, Security) ya están instalados. Solo traés los ingredientes (tu código).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45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0F6FC"/>
                </a:solidFill>
              </a:rPr>
              <a:t>Git y GitHub — Historial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Cada cambio queda registrado · Trabajo en equipo sin pisarse el código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74552" cy="254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1672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</a:rPr>
              <a:t>4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029200" cy="146304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029200" cy="38100"/>
          </a:xfrm>
          <a:prstGeom prst="rect">
            <a:avLst/>
          </a:prstGeom>
          <a:solidFill>
            <a:srgbClr val="FFA6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27048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0F6FC"/>
                </a:solidFill>
              </a:rPr>
              <a:t>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527048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F6FC"/>
                </a:solidFill>
              </a:rPr>
              <a:t>¿Qué hace Git?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920240"/>
            <a:ext cx="482803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DBAC7"/>
                </a:solidFill>
              </a:rPr>
              <a:t>Guarda instantáneas (commits) en cada punto importante.
Si algo se rompe, podés volver a cualquier commit anterior con git checkout.
Cada commit registra: qué cambió, quién lo hizo y cuándo.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971800"/>
            <a:ext cx="5029200" cy="137160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971800"/>
            <a:ext cx="5029200" cy="381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081528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0F6FC"/>
                </a:solidFill>
              </a:rPr>
              <a:t>☁️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081528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F6FC"/>
                </a:solidFill>
              </a:rPr>
              <a:t>GitHub = Git en la nube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474720"/>
            <a:ext cx="48280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DBAC7"/>
                </a:solidFill>
              </a:rPr>
              <a:t>El repo local se sincroniza con GitHub.
Railway lee de GitHub — cada git push dispara un nuevo despliegue automático en producción.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0" y="1417320"/>
            <a:ext cx="6080760" cy="3017520"/>
          </a:xfrm>
          <a:prstGeom prst="rect">
            <a:avLst/>
          </a:prstGeom>
          <a:solidFill>
            <a:srgbClr val="010409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06440" y="1508760"/>
            <a:ext cx="5806440" cy="2834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8B949E"/>
                </a:solidFill>
                <a:latin typeface="Courier New"/>
              </a:rPr>
              <a:t># Flujo de trabajo del proyecto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8B949E"/>
                </a:solidFill>
                <a:latin typeface="Courier New"/>
              </a:rPr>
              <a:t># Ver qué cambió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git status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git diff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8B949E"/>
                </a:solidFill>
                <a:latin typeface="Courier New"/>
              </a:rPr>
              <a:t># Preparar los cambios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git add src/main/java/...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8B949E"/>
                </a:solidFill>
                <a:latin typeface="Courier New"/>
              </a:rPr>
              <a:t># Guardar el commit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FFA657"/>
                </a:solidFill>
                <a:latin typeface="Courier New"/>
              </a:rPr>
              <a:t>git commit -m "feat: módulo Suministros"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8B949E"/>
                </a:solidFill>
                <a:latin typeface="Courier New"/>
              </a:rPr>
              <a:t># Subir a GitHub (dispara Railway)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git push origin main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8B949E"/>
                </a:solidFill>
                <a:latin typeface="Courier New"/>
              </a:rPr>
              <a:t># Historial del proyecto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3FB950"/>
                </a:solidFill>
                <a:latin typeface="Courier New"/>
              </a:rPr>
              <a:t>74488d7 Agregar 5 módulos + presentación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3FB950"/>
                </a:solidFill>
                <a:latin typeface="Courier New"/>
              </a:rPr>
              <a:t>6627052 Agregar página ER y procedimientos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3FB950"/>
                </a:solidFill>
                <a:latin typeface="Courier New"/>
              </a:rPr>
              <a:t>2c7c076 Agregar Spring Security con roles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3FB950"/>
                </a:solidFill>
                <a:latin typeface="Courier New"/>
              </a:rPr>
              <a:t>e7c051d Proyecto final IF-5100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617720"/>
            <a:ext cx="11274552" cy="502920"/>
          </a:xfrm>
          <a:prstGeom prst="rect">
            <a:avLst/>
          </a:prstGeom>
          <a:solidFill>
            <a:srgbClr val="1A1F0D"/>
          </a:solidFill>
          <a:ln w="254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90872"/>
            <a:ext cx="11000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0F6FC"/>
                </a:solidFill>
              </a:rPr>
              <a:t>💡  Git es como el historial de Google Docs — podés ver cada versión anterior y restaurarla. GitHub es el Google Drive donde se guarda todo en la nube.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45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0F6FC"/>
                </a:solidFill>
              </a:rPr>
              <a:t>Supabase y Railway — La Nube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Base de datos y servidor web, ambos gratuitos y siempre disponibles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74552" cy="254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1672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</a:rPr>
              <a:t>5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577840" cy="320040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577840" cy="3810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27048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0F6FC"/>
                </a:solidFill>
              </a:rPr>
              <a:t>🗄️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527048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F6FC"/>
                </a:solidFill>
              </a:rPr>
              <a:t>Supabase — PostgreSQL en la nube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920240"/>
            <a:ext cx="5376672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DBAC7"/>
                </a:solidFill>
              </a:rPr>
              <a:t>Provee un servidor PostgreSQL completamente administrado.
El proyecto se conecta con la URL de Supabase — funciona igual
en la laptop y en producción.
URL de conexión:
jdbc:postgresql://aws-1...supabase.com:6543/postgres
Schema Visualizer, Dashboard SQL y backups automáticos incluidos.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417320"/>
            <a:ext cx="5440680" cy="320040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417320"/>
            <a:ext cx="544068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27048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0F6FC"/>
                </a:solidFill>
              </a:rPr>
              <a:t>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152704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F6FC"/>
                </a:solidFill>
              </a:rPr>
              <a:t>Railway — Servidor web en la nube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920240"/>
            <a:ext cx="5239512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DBAC7"/>
                </a:solidFill>
              </a:rPr>
              <a:t>Ejecuta el JAR de Spring Boot en un contenedor Docker.
Despliegue automático:
git push → Railway detecta el cambio →
compila el JAR → reinicia → nuevo código activo en ~2 min.
Las variables de entorno (DB_URL, DB_PASSWORD, PORT)
se configuran en Railway — nunca en el código fuente.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00600"/>
            <a:ext cx="11274552" cy="502920"/>
          </a:xfrm>
          <a:prstGeom prst="rect">
            <a:avLst/>
          </a:prstGeom>
          <a:solidFill>
            <a:srgbClr val="1A1F0D"/>
          </a:solidFill>
          <a:ln w="254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4873752"/>
            <a:ext cx="11000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0F6FC"/>
                </a:solidFill>
              </a:rPr>
              <a:t>💡  Supabase = contratar un DBA 24/7 que administra tu servidor de base de datos.  Railway = el local donde ponés tu negocio — vos ponés la app, ellos manejan el resto.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45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0F6FC"/>
                </a:solidFill>
              </a:rPr>
              <a:t>Spring Security — Acceso Controlado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Cada rol solo ve lo que necesita · Contraseñas encriptadas con BCrypt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74552" cy="254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1672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</a:rPr>
              <a:t>6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2468880" cy="16459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2468880" cy="38100"/>
          </a:xfrm>
          <a:prstGeom prst="rect">
            <a:avLst/>
          </a:prstGeom>
          <a:solidFill>
            <a:srgbClr val="C62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0F6FC"/>
                </a:solidFill>
              </a:rPr>
              <a:t>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ADMIN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591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DBAC7"/>
                </a:solidFill>
              </a:rPr>
              <a:t>Acceso total a todos los módulos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63240" y="1417320"/>
            <a:ext cx="2468880" cy="16459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63240" y="1417320"/>
            <a:ext cx="2468880" cy="3810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8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0F6FC"/>
                </a:solidFill>
              </a:rPr>
              <a:t>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2011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VETERINARIO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23591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DBAC7"/>
                </a:solidFill>
              </a:rPr>
              <a:t>Historial vet. y alertas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0" y="1417320"/>
            <a:ext cx="2468880" cy="16459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0" y="1417320"/>
            <a:ext cx="2468880" cy="38100"/>
          </a:xfrm>
          <a:prstGeom prst="rect">
            <a:avLst/>
          </a:prstGeom>
          <a:solidFill>
            <a:srgbClr val="FFA6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0F6FC"/>
                </a:solidFill>
              </a:rPr>
              <a:t>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2011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OPERADOR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23591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DBAC7"/>
                </a:solidFill>
              </a:rPr>
              <a:t>Eventos, facturas y resultados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75320" y="1417320"/>
            <a:ext cx="2468880" cy="16459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75320" y="1417320"/>
            <a:ext cx="2468880" cy="381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6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0F6FC"/>
                </a:solidFill>
              </a:rPr>
              <a:t>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2011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F6FC"/>
                </a:solidFill>
              </a:rPr>
              <a:t>ENCARGADO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23591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DBAC7"/>
                </a:solidFill>
              </a:rPr>
              <a:t>Establos, suministros y alimentación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246120"/>
            <a:ext cx="11292840" cy="1508760"/>
          </a:xfrm>
          <a:prstGeom prst="rect">
            <a:avLst/>
          </a:prstGeom>
          <a:solidFill>
            <a:srgbClr val="010409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337560"/>
            <a:ext cx="1101852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8B949E"/>
                </a:solidFill>
                <a:latin typeface="Courier New"/>
              </a:rPr>
              <a:t>// SecurityConfig — reglas de acceso por URL y rol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http.authorizeHttpRequests(auth -&gt; auth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.requestMatchers("/historial/**", "/alertas/**").hasAnyRole("ADMIN", "VETERINARIO")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.requestMatchers("/suministros/**", "/alimentacion/**").hasAnyRole("ADMIN", "ENCARGADO")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.requestMatchers("/facturas/**", "/resultados/**").hasAnyRole("ADMIN", "OPERADOR")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8B949E"/>
                </a:solidFill>
                <a:latin typeface="Courier New"/>
              </a:rPr>
              <a:t>  .anyRequest().authenticated()  // cualquier otra ruta requiere estar autenticado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);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937760"/>
            <a:ext cx="11274552" cy="502920"/>
          </a:xfrm>
          <a:prstGeom prst="rect">
            <a:avLst/>
          </a:prstGeom>
          <a:solidFill>
            <a:srgbClr val="1A1F0D"/>
          </a:solidFill>
          <a:ln w="254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5010912"/>
            <a:ext cx="11000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0F6FC"/>
                </a:solidFill>
              </a:rPr>
              <a:t>💡  Los usuarios y contraseñas se guardan en la tabla usuarios de Supabase. Spring Security los lee vía UsuarioDetailsService — no hay lista hardcodeada en el código.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45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0F6FC"/>
                </a:solidFill>
              </a:rPr>
              <a:t>Thymeleaf — Las Vistas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HTML procesado en el servidor con datos reales antes de llegar al navegador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74552" cy="254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1672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</a:rPr>
              <a:t>7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029200" cy="14173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029200" cy="381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27048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0F6FC"/>
                </a:solidFill>
              </a:rPr>
              <a:t>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527048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F6FC"/>
                </a:solidFill>
              </a:rPr>
              <a:t>Server-Side Rendering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920240"/>
            <a:ext cx="4828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DBAC7"/>
                </a:solidFill>
              </a:rPr>
              <a:t>El servidor combina la plantilla HTML con los datos de la BD y envía HTML completo.
No hay API REST, no hay React, no hay JavaScript para cargar datos.
Lo que el usuario ve ya contiene los registros reales.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926080"/>
            <a:ext cx="5029200" cy="14173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926080"/>
            <a:ext cx="5029200" cy="3810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035808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0F6FC"/>
                </a:solidFill>
              </a:rPr>
              <a:t>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035808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F6FC"/>
                </a:solidFill>
              </a:rPr>
              <a:t>th:sec — Integración con 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429000"/>
            <a:ext cx="4828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DBAC7"/>
                </a:solidFill>
              </a:rPr>
              <a:t>sec:authorize="hasRole('ADMIN')" oculta elementos del HTML según el rol activo.
El botón "Eliminar" solo aparece para ADMIN, aunque el usuario manipule la URL.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0" y="1417320"/>
            <a:ext cx="6080760" cy="2926080"/>
          </a:xfrm>
          <a:prstGeom prst="rect">
            <a:avLst/>
          </a:prstGeom>
          <a:solidFill>
            <a:srgbClr val="010409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06440" y="1508760"/>
            <a:ext cx="580644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8B949E"/>
                </a:solidFill>
                <a:latin typeface="Courier New"/>
              </a:rPr>
              <a:t>&lt;!-- caballos/index.html — tabla dinámica --&gt;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&lt;tr th:each="c : ${caballos}"&gt;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&lt;td th:text="${c.nombre}"&gt;&lt;/td&gt;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&lt;td&gt;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  &lt;span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FFA657"/>
                </a:solidFill>
                <a:latin typeface="Courier New"/>
              </a:rPr>
              <a:t>      th:class="${c.estadoSalud == 'Óptimo'}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3FB950"/>
                </a:solidFill>
                <a:latin typeface="Courier New"/>
              </a:rPr>
              <a:t>               ? 'badge badge-green'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F78166"/>
                </a:solidFill>
                <a:latin typeface="Courier New"/>
              </a:rPr>
              <a:t>               : 'badge badge-red'"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    th:text="${c.estadoSalud}"&gt;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  &lt;/span&gt;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&lt;/td&gt;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8B949E"/>
                </a:solidFill>
                <a:latin typeface="Courier New"/>
              </a:rPr>
              <a:t>  &lt;!-- Solo ADMIN ve el botón eliminar --&gt;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3FB950"/>
                </a:solidFill>
                <a:latin typeface="Courier New"/>
              </a:rPr>
              <a:t>  &lt;td sec:authorize="hasRole('ADMIN')"&gt;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  &lt;a th:href="@{/caballos/eliminar/{id}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          (id=${c.idCaballo})}"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     class="btn-delete"&gt;Eliminar&lt;/a&gt;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&lt;/td&gt;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&lt;/tr&gt;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26280"/>
            <a:ext cx="11274552" cy="502920"/>
          </a:xfrm>
          <a:prstGeom prst="rect">
            <a:avLst/>
          </a:prstGeom>
          <a:solidFill>
            <a:srgbClr val="1A1F0D"/>
          </a:solidFill>
          <a:ln w="254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599432"/>
            <a:ext cx="11000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0F6FC"/>
                </a:solidFill>
              </a:rPr>
              <a:t>💡  Thymeleaf es como una plantilla de Word con combinación de correspondencia — el documento ya está hecho, solo se llenan los datos antes de imprimir.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45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0F6FC"/>
                </a:solidFill>
              </a:rPr>
              <a:t>Base de Datos PostgreSQL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14 tablas normalizadas · Toda la lógica de negocio vive en stored procedures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74552" cy="254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1672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</a:rPr>
              <a:t>8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029200" cy="30175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029200" cy="381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53619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F6FC"/>
                </a:solidFill>
              </a:rPr>
              <a:t>📊 14 Tablas del sistema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93852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DBAC7"/>
                </a:solidFill>
              </a:rPr>
              <a:t>• Propietarios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93852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DBAC7"/>
                </a:solidFill>
              </a:rPr>
              <a:t>• Establos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286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DBAC7"/>
                </a:solidFill>
              </a:rPr>
              <a:t>• Caballos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286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DBAC7"/>
                </a:solidFill>
              </a:rPr>
              <a:t>• Eventos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6334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DBAC7"/>
                </a:solidFill>
              </a:rPr>
              <a:t>• Inscripciones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6334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DBAC7"/>
                </a:solidFill>
              </a:rPr>
              <a:t>• Resultados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98094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DBAC7"/>
                </a:solidFill>
              </a:rPr>
              <a:t>• Hist.Veterinario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298094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DBAC7"/>
                </a:solidFill>
              </a:rPr>
              <a:t>• Alertas Vet.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32841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DBAC7"/>
                </a:solidFill>
              </a:rPr>
              <a:t>• Suministros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32841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DBAC7"/>
                </a:solidFill>
              </a:rPr>
              <a:t>• Alimentacion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675887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DBAC7"/>
                </a:solidFill>
              </a:rPr>
              <a:t>• Facturas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675887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DBAC7"/>
                </a:solidFill>
              </a:rPr>
              <a:t>• Transacciones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023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DBAC7"/>
                </a:solidFill>
              </a:rPr>
              <a:t>• Pais / Provincia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023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DBAC7"/>
                </a:solidFill>
              </a:rPr>
              <a:t>• Canton / Barrio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544568"/>
            <a:ext cx="5029200" cy="11887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544568"/>
            <a:ext cx="5029200" cy="38100"/>
          </a:xfrm>
          <a:prstGeom prst="rect">
            <a:avLst/>
          </a:prstGeom>
          <a:solidFill>
            <a:srgbClr val="FFA6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654296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0F6FC"/>
                </a:solidFill>
              </a:rPr>
              <a:t>⚙️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654296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F6FC"/>
                </a:solidFill>
              </a:rPr>
              <a:t>Stored Procedures con prefijo sp_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047488"/>
            <a:ext cx="48280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DBAC7"/>
                </a:solidFill>
              </a:rPr>
              <a:t>Spring Data JPA llama con @Query(nativeQuery=true)
CALL sp_insertar_caballo(:p_id, :p_nombre, ...)
Si cambia la regla, solo se actualiza el procedure — sin tocar Java.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0" y="1417320"/>
            <a:ext cx="6080760" cy="4343400"/>
          </a:xfrm>
          <a:prstGeom prst="rect">
            <a:avLst/>
          </a:prstGeom>
          <a:solidFill>
            <a:srgbClr val="010409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6440" y="1508760"/>
            <a:ext cx="5806440" cy="4160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8B949E"/>
                </a:solidFill>
                <a:latin typeface="Courier New"/>
              </a:rPr>
              <a:t>-- sp_insertar_alimentacion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8B949E"/>
                </a:solidFill>
                <a:latin typeface="Courier New"/>
              </a:rPr>
              <a:t>-- descuenta stock al registrar ración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F78166"/>
                </a:solidFill>
                <a:latin typeface="Courier New"/>
              </a:rPr>
              <a:t>CREATE OR REPLACE PROCEDURE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sp_insertar_alimentacion(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  p_id_caballo    VARCHAR,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  p_id_suministro VARCHAR,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  p_tipo_alimento VARCHAR,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  p_cantidad      DECIMAL,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  p_fecha         DATE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LANGUAGE plpgsql AS $$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F78166"/>
                </a:solidFill>
                <a:latin typeface="Courier New"/>
              </a:rPr>
              <a:t>BEGIN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INSERT INTO alimentacion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  (id_caballo, id_suministro,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   tipo_alimento, cantidad, fecha)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VALUES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  (p_id_caballo, p_id_suministro,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   p_tipo_alimento, p_cantidad, p_fecha);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8B949E"/>
                </a:solidFill>
                <a:latin typeface="Courier New"/>
              </a:rPr>
              <a:t>  -- Descuenta del inventario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UPDATE suministro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   SET cantidad_disponible =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       cantidad_disponible - p_cantidad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 WHERE id_suministro = p_id_suministro;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END; $$;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45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0F6FC"/>
                </a:solidFill>
              </a:rPr>
              <a:t>Automatización — Triggers y Bitácoras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La base de datos trabaja sola — auditoría completa sin intervención del programador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74552" cy="254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1672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</a:rPr>
              <a:t>9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2699766" cy="288036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2699766" cy="38100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27048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0F6FC"/>
                </a:solidFill>
              </a:rPr>
              <a:t>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527048"/>
            <a:ext cx="210540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F6FC"/>
                </a:solidFill>
              </a:rPr>
              <a:t>Bitácoras Particionadas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920240"/>
            <a:ext cx="249859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DBAC7"/>
                </a:solidFill>
              </a:rPr>
              <a:t>6 tablas × 4 trimestres
Cada partición filtra por rango de fechas — consultar Q2 no toca registros del Q1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8406" y="1417320"/>
            <a:ext cx="2699766" cy="288036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48406" y="1417320"/>
            <a:ext cx="2699766" cy="381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9846" y="1527048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0F6FC"/>
                </a:solidFill>
              </a:rPr>
              <a:t>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51326" y="1527048"/>
            <a:ext cx="210540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F6FC"/>
                </a:solidFill>
              </a:rPr>
              <a:t>18 Triggers de Auditoría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8134" y="1920240"/>
            <a:ext cx="249859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DBAC7"/>
                </a:solidFill>
              </a:rPr>
              <a:t>3 por tabla auditada:
AFTER INSERT · UPDATE · DELETE
Captura CURRENT_USER, TG_OP, NOW() en cada operación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9612" y="1417320"/>
            <a:ext cx="2699766" cy="288036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9612" y="1417320"/>
            <a:ext cx="2699766" cy="3810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1052" y="1527048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0F6FC"/>
                </a:solidFill>
              </a:rPr>
              <a:t>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2532" y="1527048"/>
            <a:ext cx="210540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F6FC"/>
                </a:solidFill>
              </a:rPr>
              <a:t>Alerta Vencimiento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9340" y="1920240"/>
            <a:ext cx="249859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DBAC7"/>
                </a:solidFill>
              </a:rPr>
              <a:t>Trigger AFTER UPDATE en Caballos
Si la certificación vence en menos de 30 días, inserta en alerta_veterinaria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30818" y="1417320"/>
            <a:ext cx="2699766" cy="288036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830818" y="1417320"/>
            <a:ext cx="2699766" cy="38100"/>
          </a:xfrm>
          <a:prstGeom prst="rect">
            <a:avLst/>
          </a:prstGeom>
          <a:solidFill>
            <a:srgbClr val="FFA6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22258" y="1527048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0F6FC"/>
                </a:solidFill>
              </a:rPr>
              <a:t>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33738" y="1527048"/>
            <a:ext cx="210540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F6FC"/>
                </a:solidFill>
              </a:rPr>
              <a:t>Descuento Frecuentes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0546" y="1920240"/>
            <a:ext cx="249859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DBAC7"/>
                </a:solidFill>
              </a:rPr>
              <a:t>Trigger BEFORE INSERT en Facturas
&gt;₡500k facturados en 6 meses → aplica 10% descuento automático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480560"/>
            <a:ext cx="11274552" cy="502920"/>
          </a:xfrm>
          <a:prstGeom prst="rect">
            <a:avLst/>
          </a:prstGeom>
          <a:solidFill>
            <a:srgbClr val="1A1F0D"/>
          </a:solidFill>
          <a:ln w="254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553712"/>
            <a:ext cx="11000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0F6FC"/>
                </a:solidFill>
              </a:rPr>
              <a:t>💡  Los triggers corren en PostgreSQL, NO en Spring Boot. El controller solo llama sp_insertar_alimentacion() — la auditoría, descuento y alertas ocurren automáticamente en la BD.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45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0F6FC"/>
                </a:solidFill>
              </a:rPr>
              <a:t>Facturación — Ley 9635 Costa 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IVA 13% calculado automáticamente · Historial de pagos por transacción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74552" cy="254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1672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</a:rPr>
              <a:t>10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691640" cy="105156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1691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8A6FF"/>
                </a:solidFill>
              </a:rPr>
              <a:t>₡150,000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9339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B949E"/>
                </a:solidFill>
              </a:rPr>
              <a:t>Precio inscripción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664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8B949E"/>
                </a:solidFill>
              </a:rPr>
              <a:t>+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0" y="1417320"/>
            <a:ext cx="1691640" cy="105156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1508760"/>
            <a:ext cx="1691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A657"/>
                </a:solidFill>
              </a:rPr>
              <a:t>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199339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B949E"/>
                </a:solidFill>
              </a:rPr>
              <a:t>Comisión admin.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1664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8B949E"/>
                </a:solidFill>
              </a:rPr>
              <a:t>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1417320"/>
            <a:ext cx="1691640" cy="105156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1508760"/>
            <a:ext cx="1691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FB950"/>
                </a:solidFill>
              </a:rPr>
              <a:t>10%*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199339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B949E"/>
                </a:solidFill>
              </a:rPr>
              <a:t>Desc. frecuente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1664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8B949E"/>
                </a:solidFill>
              </a:rPr>
              <a:t>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0" y="1417320"/>
            <a:ext cx="1691640" cy="105156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1508760"/>
            <a:ext cx="1691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78166"/>
                </a:solidFill>
              </a:rPr>
              <a:t>13%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199339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B949E"/>
                </a:solidFill>
              </a:rPr>
              <a:t>IVA Ley 9635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1664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8B949E"/>
                </a:solidFill>
              </a:rPr>
              <a:t>=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69680" y="1417320"/>
            <a:ext cx="1691640" cy="1051560"/>
          </a:xfrm>
          <a:prstGeom prst="rect">
            <a:avLst/>
          </a:prstGeom>
          <a:solidFill>
            <a:srgbClr val="161B27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0" y="1508760"/>
            <a:ext cx="1691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D700"/>
                </a:solidFill>
              </a:rPr>
              <a:t>TOTAL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199339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B949E"/>
                </a:solidFill>
              </a:rPr>
              <a:t>Factura final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260604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</a:rPr>
              <a:t>* Solo aplica si el propietario supera ₡500,000 en los últimos 6 meses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2926080"/>
            <a:ext cx="11274552" cy="2331720"/>
          </a:xfrm>
          <a:prstGeom prst="rect">
            <a:avLst/>
          </a:prstGeom>
          <a:solidFill>
            <a:srgbClr val="010409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017520"/>
            <a:ext cx="11000232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8B949E"/>
                </a:solidFill>
                <a:latin typeface="Courier New"/>
              </a:rPr>
              <a:t>-- Vista resumen de facturas con cálculo IVA visible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SELECT (p.nombre || ' ' || p.apellidos) AS propietario,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     e.nombre AS evento, f.subtotal, f.descuento,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     (f.subtotal - f.descuento) AS base_imponible,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     f.impuestos AS iva_13pct, f.total,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     CASE WHEN f.descuento &gt; 0 THEN 'Sí (cliente frecuente)' ELSE 'No' END AS descuento_aplicado,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       f.estado_pago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FROM factura f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JOIN propietario p ON p.id_propietario = f.id_propietario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JOIN evento e ON e.id_evento = f.id_evento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ADBAC7"/>
                </a:solidFill>
                <a:latin typeface="Courier New"/>
              </a:rPr>
              <a:t>ORDER BY f.fecha_emision DESC;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45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0F6FC"/>
                </a:solidFill>
              </a:rPr>
              <a:t>12 Módulos del 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Cada módulo: formulario de registro, tabla con lista, editar y eliminar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74552" cy="254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1672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</a:rPr>
              <a:t>11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2699766" cy="155448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2699766" cy="254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0F6FC"/>
                </a:solidFill>
              </a:rPr>
              <a:t>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965960"/>
            <a:ext cx="251688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F6FC"/>
                </a:solidFill>
              </a:rPr>
              <a:t>Propietarios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267712"/>
            <a:ext cx="251688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</a:rPr>
              <a:t>CRUD completo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8406" y="1463040"/>
            <a:ext cx="2699766" cy="155448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48406" y="1463040"/>
            <a:ext cx="2699766" cy="2540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8134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0F6FC"/>
                </a:solidFill>
              </a:rPr>
              <a:t>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134" y="1965960"/>
            <a:ext cx="251688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F6FC"/>
                </a:solidFill>
              </a:rPr>
              <a:t>Establos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8134" y="2267712"/>
            <a:ext cx="251688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</a:rPr>
              <a:t>Estado y capacidad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9612" y="1463040"/>
            <a:ext cx="2699766" cy="155448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9612" y="1463040"/>
            <a:ext cx="2699766" cy="25400"/>
          </a:xfrm>
          <a:prstGeom prst="rect">
            <a:avLst/>
          </a:prstGeom>
          <a:solidFill>
            <a:srgbClr val="FFA6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934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0F6FC"/>
                </a:solidFill>
              </a:rPr>
              <a:t>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49340" y="1965960"/>
            <a:ext cx="251688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F6FC"/>
                </a:solidFill>
              </a:rPr>
              <a:t>Caballos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9340" y="2267712"/>
            <a:ext cx="251688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</a:rPr>
              <a:t>Salud y propietario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30818" y="1463040"/>
            <a:ext cx="2699766" cy="155448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830818" y="1463040"/>
            <a:ext cx="2699766" cy="254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40546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0F6FC"/>
                </a:solidFill>
              </a:rPr>
              <a:t>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0546" y="1965960"/>
            <a:ext cx="251688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F6FC"/>
                </a:solidFill>
              </a:rPr>
              <a:t>Eventos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0546" y="2267712"/>
            <a:ext cx="251688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</a:rPr>
              <a:t>Carreras y premios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108960"/>
            <a:ext cx="2699766" cy="155448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108960"/>
            <a:ext cx="2699766" cy="2540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32186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0F6FC"/>
                </a:solidFill>
              </a:rPr>
              <a:t>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611880"/>
            <a:ext cx="251688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F6FC"/>
                </a:solidFill>
              </a:rPr>
              <a:t>Inscripciones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913632"/>
            <a:ext cx="251688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</a:rPr>
              <a:t>Caballo + Evento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8406" y="3108960"/>
            <a:ext cx="2699766" cy="155448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48406" y="3108960"/>
            <a:ext cx="2699766" cy="25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58134" y="32186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0F6FC"/>
                </a:solidFill>
              </a:rPr>
              <a:t>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58134" y="3611880"/>
            <a:ext cx="251688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F6FC"/>
                </a:solidFill>
              </a:rPr>
              <a:t>Resultados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58134" y="3913632"/>
            <a:ext cx="251688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</a:rPr>
              <a:t>Posiciones y premios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9612" y="3108960"/>
            <a:ext cx="2699766" cy="155448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39612" y="3108960"/>
            <a:ext cx="2699766" cy="25400"/>
          </a:xfrm>
          <a:prstGeom prst="rect">
            <a:avLst/>
          </a:prstGeom>
          <a:solidFill>
            <a:srgbClr val="FFA6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9340" y="32186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0F6FC"/>
                </a:solidFill>
              </a:rPr>
              <a:t>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49340" y="3611880"/>
            <a:ext cx="251688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F6FC"/>
                </a:solidFill>
              </a:rPr>
              <a:t>Facturas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49340" y="3913632"/>
            <a:ext cx="251688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</a:rPr>
              <a:t>IVA + descuentos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830818" y="3108960"/>
            <a:ext cx="2699766" cy="155448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830818" y="3108960"/>
            <a:ext cx="2699766" cy="25400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40546" y="32186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0F6FC"/>
                </a:solidFill>
              </a:rPr>
              <a:t>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40546" y="3611880"/>
            <a:ext cx="251688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F6FC"/>
                </a:solidFill>
              </a:rPr>
              <a:t>Transacciones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40546" y="3913632"/>
            <a:ext cx="251688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</a:rPr>
              <a:t>Pagos de facturas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754880"/>
            <a:ext cx="2699766" cy="155448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7200" y="4754880"/>
            <a:ext cx="2699766" cy="25400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8646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0F6FC"/>
                </a:solidFill>
              </a:rPr>
              <a:t>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5257800"/>
            <a:ext cx="251688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F6FC"/>
                </a:solidFill>
              </a:rPr>
              <a:t>Historial Vet.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5559552"/>
            <a:ext cx="251688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</a:rPr>
              <a:t>Diagnósticos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48406" y="4754880"/>
            <a:ext cx="2699766" cy="155448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248406" y="4754880"/>
            <a:ext cx="2699766" cy="254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58134" y="48646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0F6FC"/>
                </a:solidFill>
              </a:rPr>
              <a:t>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58134" y="5257800"/>
            <a:ext cx="251688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F6FC"/>
                </a:solidFill>
              </a:rPr>
              <a:t>Alertas Vet.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58134" y="5559552"/>
            <a:ext cx="251688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</a:rPr>
              <a:t>Vencimientos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9612" y="4754880"/>
            <a:ext cx="2699766" cy="155448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039612" y="4754880"/>
            <a:ext cx="2699766" cy="2540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49340" y="48646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0F6FC"/>
                </a:solidFill>
              </a:rPr>
              <a:t>📦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49340" y="5257800"/>
            <a:ext cx="251688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F6FC"/>
                </a:solidFill>
              </a:rPr>
              <a:t>Suministros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49340" y="5559552"/>
            <a:ext cx="251688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</a:rPr>
              <a:t>Inventario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830818" y="4754880"/>
            <a:ext cx="2699766" cy="155448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830818" y="4754880"/>
            <a:ext cx="2699766" cy="25400"/>
          </a:xfrm>
          <a:prstGeom prst="rect">
            <a:avLst/>
          </a:prstGeom>
          <a:solidFill>
            <a:srgbClr val="FFA6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940546" y="48646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0F6FC"/>
                </a:solidFill>
              </a:rPr>
              <a:t>🌾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40546" y="5257800"/>
            <a:ext cx="251688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F6FC"/>
                </a:solidFill>
              </a:rPr>
              <a:t>Alimentación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40546" y="5559552"/>
            <a:ext cx="251688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</a:rPr>
              <a:t>Raciones diarias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45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0F6FC"/>
                </a:solidFill>
              </a:rPr>
              <a:t>Proceso de Construcción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</a:rPr>
              <a:t>5 fases ordenadas — cada una depende de la anterior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74552" cy="254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1672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</a:rPr>
              <a:t>12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2163470" cy="30175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2163470" cy="381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10335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0F6FC"/>
                </a:solidFill>
              </a:rPr>
              <a:t>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011680"/>
            <a:ext cx="202631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</a:rPr>
              <a:t>1. Diseño BD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423160"/>
            <a:ext cx="202631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DBAC7"/>
                </a:solidFill>
              </a:rPr>
              <a:t>Diagrama ER
Normalización 3FN
DDL: 14 tablas
Constraints FK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0670" y="26060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93822" y="1417320"/>
            <a:ext cx="2163470" cy="30175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93822" y="1417320"/>
            <a:ext cx="2163470" cy="3810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46957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0F6FC"/>
                </a:solidFill>
              </a:rPr>
              <a:t>⚙️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6974" y="2011680"/>
            <a:ext cx="202631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</a:rPr>
              <a:t>2. Lógica PostgreSQL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6974" y="2423160"/>
            <a:ext cx="202631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DBAC7"/>
                </a:solidFill>
              </a:rPr>
              <a:t>Stored procedures
Bitácoras particionadas
18 triggers auditoría
Roles y permisos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7292" y="26060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0444" y="1417320"/>
            <a:ext cx="2163470" cy="30175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30444" y="1417320"/>
            <a:ext cx="2163470" cy="38100"/>
          </a:xfrm>
          <a:prstGeom prst="rect">
            <a:avLst/>
          </a:prstGeom>
          <a:solidFill>
            <a:srgbClr val="FFA6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8358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0F6FC"/>
                </a:solidFill>
              </a:rPr>
              <a:t>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03596" y="2011680"/>
            <a:ext cx="202631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A657"/>
                </a:solidFill>
              </a:rPr>
              <a:t>3. Spring Boot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03596" y="2423160"/>
            <a:ext cx="202631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DBAC7"/>
                </a:solidFill>
              </a:rPr>
              <a:t>Proyecto Maven
Modelos JPA
Repositorios
Controllers MVC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93915" y="26060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67067" y="1417320"/>
            <a:ext cx="2163470" cy="30175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67067" y="1417320"/>
            <a:ext cx="2163470" cy="38100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20202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0F6FC"/>
                </a:solidFill>
              </a:rPr>
              <a:t>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0219" y="2011680"/>
            <a:ext cx="202631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78166"/>
                </a:solidFill>
              </a:rPr>
              <a:t>4. Spring Security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40219" y="2423160"/>
            <a:ext cx="202631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DBAC7"/>
                </a:solidFill>
              </a:rPr>
              <a:t>Login personalizado
4 roles definidos
Reglas por URL
BCrypt en contraseñas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0537" y="26060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03689" y="1417320"/>
            <a:ext cx="2163470" cy="301752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03689" y="1417320"/>
            <a:ext cx="2163470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56824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0F6FC"/>
                </a:solidFill>
              </a:rPr>
              <a:t>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76841" y="2011680"/>
            <a:ext cx="202631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D700"/>
                </a:solidFill>
              </a:rPr>
              <a:t>5. Git + Railway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76841" y="2423160"/>
            <a:ext cx="202631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DBAC7"/>
                </a:solidFill>
              </a:rPr>
              <a:t>GitHub repo público
Railway conectado
Supabase cloud
CI/CD automático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11274552" cy="502920"/>
          </a:xfrm>
          <a:prstGeom prst="rect">
            <a:avLst/>
          </a:prstGeom>
          <a:solidFill>
            <a:srgbClr val="1A1F0D"/>
          </a:solidFill>
          <a:ln w="254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4645152"/>
            <a:ext cx="11000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0F6FC"/>
                </a:solidFill>
              </a:rPr>
              <a:t>💡  Regla de oro: no se escribe código Java sin que el stored procedure ya exista y funcione en Supabase. El servidor de aplicaciones es el cliente de la BD, no al revés.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45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0F6FC"/>
                </a:solidFill>
              </a:rPr>
              <a:t>Resumen del Proyecto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41248"/>
            <a:ext cx="8074152" cy="254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595360" cy="59436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38100" cy="5943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115568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6FC"/>
                </a:solidFill>
              </a:rPr>
              <a:t>🗄️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133856"/>
            <a:ext cx="7909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6FC"/>
                </a:solidFill>
              </a:rPr>
              <a:t>14 tablas normalizadas hasta 3FN con constraints, FK y CHECK en PostgreSQL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09928"/>
            <a:ext cx="8595360" cy="59436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709928"/>
            <a:ext cx="38100" cy="5943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819656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6FC"/>
                </a:solidFill>
              </a:rPr>
              <a:t>⚙️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1837944"/>
            <a:ext cx="7909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6FC"/>
                </a:solidFill>
              </a:rPr>
              <a:t>Stored procedures para todo CRUD + lógica de negocio (IVA, descuentos, premios)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414016"/>
            <a:ext cx="8595360" cy="59436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414016"/>
            <a:ext cx="38100" cy="5943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523744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6FC"/>
                </a:solidFill>
              </a:rPr>
              <a:t>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542032"/>
            <a:ext cx="7909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6FC"/>
                </a:solidFill>
              </a:rPr>
              <a:t>6 bitácoras particionadas por trimestre · 18 triggers de auditoría automática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18104"/>
            <a:ext cx="8595360" cy="59436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118104"/>
            <a:ext cx="38100" cy="5943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227832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6FC"/>
                </a:solidFill>
              </a:rPr>
              <a:t>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246120"/>
            <a:ext cx="7909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6FC"/>
                </a:solidFill>
              </a:rPr>
              <a:t>Spring Boot 3.5 con 12 módulos CRUD usando Thymeleaf + Spring Data JPA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822192"/>
            <a:ext cx="8595360" cy="59436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822192"/>
            <a:ext cx="38100" cy="5943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93192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6FC"/>
                </a:solidFill>
              </a:rPr>
              <a:t>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950208"/>
            <a:ext cx="7909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6FC"/>
                </a:solidFill>
              </a:rPr>
              <a:t>Spring Security con 4 roles, login propio y contraseñas BCrypt en Supabase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526280"/>
            <a:ext cx="8595360" cy="59436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526280"/>
            <a:ext cx="38100" cy="5943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636008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6FC"/>
                </a:solidFill>
              </a:rPr>
              <a:t>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654296"/>
            <a:ext cx="7909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6FC"/>
                </a:solidFill>
              </a:rPr>
              <a:t>Despliegue continuo: git push → Railway compila y publica en producción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230368"/>
            <a:ext cx="8595360" cy="59436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5230368"/>
            <a:ext cx="38100" cy="5943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5340096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6FC"/>
                </a:solidFill>
              </a:rPr>
              <a:t>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5358384"/>
            <a:ext cx="7909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6FC"/>
                </a:solidFill>
              </a:rPr>
              <a:t>Facturación con IVA 13% según Ley 9635 CR · Historial de transacciones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1005840"/>
            <a:ext cx="2423160" cy="242316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9326880" y="3657600"/>
            <a:ext cx="2423160" cy="685800"/>
          </a:xfrm>
          <a:prstGeom prst="rect">
            <a:avLst/>
          </a:prstGeom>
          <a:solidFill>
            <a:srgbClr val="161B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365760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B949E"/>
                </a:solidFill>
              </a:rPr>
              <a:t>UCR Sede Liberia · 2025–2026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0" y="3977639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0F6FC"/>
                </a:solidFill>
              </a:rPr>
              <a:t>IF-5100 Bases de Datos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91672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